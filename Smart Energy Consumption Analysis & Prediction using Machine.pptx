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895" autoAdjust="0"/>
  </p:normalViewPr>
  <p:slideViewPr>
    <p:cSldViewPr snapToGrid="0">
      <p:cViewPr varScale="1">
        <p:scale>
          <a:sx n="76" d="100"/>
          <a:sy n="76" d="100"/>
        </p:scale>
        <p:origin x="946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6-Month</a:t>
            </a:r>
            <a:r>
              <a:rPr lang="en-US" baseline="0" dirty="0"/>
              <a:t> Data Collection Summary 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Reading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 month</c:v>
                </c:pt>
                <c:pt idx="1">
                  <c:v>2 month</c:v>
                </c:pt>
                <c:pt idx="2">
                  <c:v>3 month</c:v>
                </c:pt>
                <c:pt idx="3">
                  <c:v>4 month</c:v>
                </c:pt>
                <c:pt idx="4">
                  <c:v>5 month</c:v>
                </c:pt>
                <c:pt idx="5">
                  <c:v>6 month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8900</c:v>
                </c:pt>
                <c:pt idx="2">
                  <c:v>8600</c:v>
                </c:pt>
                <c:pt idx="3">
                  <c:v>9300</c:v>
                </c:pt>
                <c:pt idx="4">
                  <c:v>8800</c:v>
                </c:pt>
                <c:pt idx="5">
                  <c:v>8500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B7-4AC0-AC20-C61B0B3435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point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 month</c:v>
                </c:pt>
                <c:pt idx="1">
                  <c:v>2 month</c:v>
                </c:pt>
                <c:pt idx="2">
                  <c:v>3 month</c:v>
                </c:pt>
                <c:pt idx="3">
                  <c:v>4 month</c:v>
                </c:pt>
                <c:pt idx="4">
                  <c:v>5 month</c:v>
                </c:pt>
                <c:pt idx="5">
                  <c:v>6 month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49200</c:v>
                </c:pt>
                <c:pt idx="1">
                  <c:v>53400</c:v>
                </c:pt>
                <c:pt idx="2">
                  <c:v>51600</c:v>
                </c:pt>
                <c:pt idx="3">
                  <c:v>55800</c:v>
                </c:pt>
                <c:pt idx="4">
                  <c:v>52800</c:v>
                </c:pt>
                <c:pt idx="5">
                  <c:v>51000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B7-4AC0-AC20-C61B0B343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8802784"/>
        <c:axId val="1558803744"/>
      </c:barChart>
      <c:catAx>
        <c:axId val="155880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803744"/>
        <c:crosses val="autoZero"/>
        <c:auto val="1"/>
        <c:lblAlgn val="ctr"/>
        <c:lblOffset val="100"/>
        <c:noMultiLvlLbl val="0"/>
      </c:catAx>
      <c:valAx>
        <c:axId val="1558803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80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Model</a:t>
            </a:r>
            <a:r>
              <a:rPr lang="en-US" baseline="0" dirty="0"/>
              <a:t> Evaluation Metrics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MAE</c:v>
                </c:pt>
                <c:pt idx="1">
                  <c:v>RMSE</c:v>
                </c:pt>
                <c:pt idx="2">
                  <c:v>R^2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7.0000000000000007E-2</c:v>
                </c:pt>
                <c:pt idx="2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B8-47B8-8E77-EEA0BB61C4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9994576"/>
        <c:axId val="1549992176"/>
      </c:barChart>
      <c:catAx>
        <c:axId val="1549994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9992176"/>
        <c:crosses val="autoZero"/>
        <c:auto val="1"/>
        <c:lblAlgn val="ctr"/>
        <c:lblOffset val="100"/>
        <c:noMultiLvlLbl val="0"/>
      </c:catAx>
      <c:valAx>
        <c:axId val="154999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9994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Device Usage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5FF-4BE1-97F0-353C9D1B9DA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5FF-4BE1-97F0-353C9D1B9DA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5FF-4BE1-97F0-353C9D1B9D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5FF-4BE1-97F0-353C9D1B9DA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15FF-4BE1-97F0-353C9D1B9DA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15FF-4BE1-97F0-353C9D1B9DA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15FF-4BE1-97F0-353C9D1B9DA9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AC</c:v>
                </c:pt>
                <c:pt idx="1">
                  <c:v>TV</c:v>
                </c:pt>
                <c:pt idx="2">
                  <c:v>Refrigerator</c:v>
                </c:pt>
                <c:pt idx="3">
                  <c:v>Light</c:v>
                </c:pt>
                <c:pt idx="4">
                  <c:v>Laptop</c:v>
                </c:pt>
                <c:pt idx="5">
                  <c:v>Fan</c:v>
                </c:pt>
                <c:pt idx="6">
                  <c:v>Washing Machine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4.3</c:v>
                </c:pt>
                <c:pt idx="1">
                  <c:v>2.9</c:v>
                </c:pt>
                <c:pt idx="2">
                  <c:v>3.7</c:v>
                </c:pt>
                <c:pt idx="3">
                  <c:v>0.2</c:v>
                </c:pt>
                <c:pt idx="4">
                  <c:v>1.5</c:v>
                </c:pt>
                <c:pt idx="5">
                  <c:v>1.2</c:v>
                </c:pt>
                <c:pt idx="6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2B-4B54-81F3-675265D38B06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E3-4627-9C1A-0D5A95A6AA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1.9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E3-4627-9C1A-0D5A95A6AA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E3-4627-9C1A-0D5A95A6AA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8089216"/>
        <c:axId val="1558087776"/>
      </c:barChart>
      <c:catAx>
        <c:axId val="1558089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087776"/>
        <c:crosses val="autoZero"/>
        <c:auto val="1"/>
        <c:lblAlgn val="ctr"/>
        <c:lblOffset val="100"/>
        <c:noMultiLvlLbl val="0"/>
      </c:catAx>
      <c:valAx>
        <c:axId val="1558087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8089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MAE</c:v>
                </c:pt>
                <c:pt idx="1">
                  <c:v>RMSE</c:v>
                </c:pt>
                <c:pt idx="2">
                  <c:v>R^2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7.0000000000000007E-2</c:v>
                </c:pt>
                <c:pt idx="2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55-4934-8F29-0E1C5B9724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MAE</c:v>
                </c:pt>
                <c:pt idx="1">
                  <c:v>RMSE</c:v>
                </c:pt>
                <c:pt idx="2">
                  <c:v>R^2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</c:v>
                </c:pt>
                <c:pt idx="1">
                  <c:v>1.6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55-4934-8F29-0E1C5B972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6515040"/>
        <c:axId val="1791417536"/>
      </c:barChart>
      <c:catAx>
        <c:axId val="156651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417536"/>
        <c:crosses val="autoZero"/>
        <c:auto val="1"/>
        <c:lblAlgn val="ctr"/>
        <c:lblOffset val="100"/>
        <c:noMultiLvlLbl val="0"/>
      </c:catAx>
      <c:valAx>
        <c:axId val="179141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6515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Device-Level</a:t>
            </a:r>
            <a:r>
              <a:rPr lang="en-US" baseline="0" dirty="0"/>
              <a:t> Consumption Trends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</c:f>
              <c:numCache>
                <c:formatCode>h:mm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6.8</c:v>
                </c:pt>
                <c:pt idx="2">
                  <c:v>6.8</c:v>
                </c:pt>
                <c:pt idx="3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AE-471A-8375-11BF0F464B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Heater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Sheet1!$A$2:$A$5</c:f>
              <c:numCache>
                <c:formatCode>h:mm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7.3</c:v>
                </c:pt>
                <c:pt idx="1">
                  <c:v>4.7</c:v>
                </c:pt>
                <c:pt idx="2">
                  <c:v>5.5</c:v>
                </c:pt>
                <c:pt idx="3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AE-471A-8375-11BF0F464B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TV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Sheet1!$A$2:$A$5</c:f>
              <c:numCache>
                <c:formatCode>h:mm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5.8</c:v>
                </c:pt>
                <c:pt idx="1">
                  <c:v>3.5</c:v>
                </c:pt>
                <c:pt idx="2">
                  <c:v>4.2</c:v>
                </c:pt>
                <c:pt idx="3">
                  <c:v>4.5999999999999996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8AE-471A-8375-11BF0F464B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1649264"/>
        <c:axId val="1131649744"/>
      </c:lineChart>
      <c:catAx>
        <c:axId val="1131649264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649744"/>
        <c:crosses val="autoZero"/>
        <c:auto val="1"/>
        <c:lblAlgn val="ctr"/>
        <c:lblOffset val="100"/>
        <c:noMultiLvlLbl val="0"/>
      </c:catAx>
      <c:valAx>
        <c:axId val="1131649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64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308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84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46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3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1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85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19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1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274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74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635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5231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44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654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949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148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6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BADF7-35EF-45E4-898B-0B725993821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0C6C4-91F1-429A-BA25-EA141C71E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720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F5C8-C1F3-0F4B-3115-1D3029D55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</a:t>
            </a:r>
            <a:r>
              <a:rPr lang="en-US" sz="3200" b="1" cap="none" dirty="0"/>
              <a:t>mart</a:t>
            </a:r>
            <a:r>
              <a:rPr lang="en-US" sz="3200" b="1" dirty="0"/>
              <a:t> E</a:t>
            </a:r>
            <a:r>
              <a:rPr lang="en-US" sz="3200" b="1" cap="none" dirty="0"/>
              <a:t>nergy</a:t>
            </a:r>
            <a:r>
              <a:rPr lang="en-US" sz="3200" b="1" dirty="0"/>
              <a:t> C</a:t>
            </a:r>
            <a:r>
              <a:rPr lang="en-US" sz="3200" b="1" cap="none" dirty="0"/>
              <a:t>onsumption</a:t>
            </a:r>
            <a:r>
              <a:rPr lang="en-US" sz="3200" b="1" dirty="0"/>
              <a:t> A</a:t>
            </a:r>
            <a:r>
              <a:rPr lang="en-US" sz="3200" b="1" cap="none" dirty="0"/>
              <a:t>nalysis</a:t>
            </a:r>
            <a:r>
              <a:rPr lang="en-US" sz="3200" b="1" dirty="0"/>
              <a:t> &amp; P</a:t>
            </a:r>
            <a:r>
              <a:rPr lang="en-US" sz="3200" b="1" cap="none" dirty="0"/>
              <a:t>rediction</a:t>
            </a:r>
            <a:r>
              <a:rPr lang="en-US" sz="3200" b="1" dirty="0"/>
              <a:t> u</a:t>
            </a:r>
            <a:r>
              <a:rPr lang="en-US" sz="3200" b="1" cap="none" dirty="0"/>
              <a:t>sing</a:t>
            </a:r>
            <a:r>
              <a:rPr lang="en-US" sz="3200" b="1" dirty="0"/>
              <a:t> M</a:t>
            </a:r>
            <a:r>
              <a:rPr lang="en-US" sz="3200" b="1" cap="none" dirty="0"/>
              <a:t>achine</a:t>
            </a:r>
            <a:r>
              <a:rPr lang="en-US" sz="3200" b="1" dirty="0"/>
              <a:t> L</a:t>
            </a:r>
            <a:r>
              <a:rPr lang="en-US" sz="3200" b="1" cap="none" dirty="0"/>
              <a:t>earning</a:t>
            </a:r>
            <a:r>
              <a:rPr lang="en-US" sz="3200" b="1" dirty="0"/>
              <a:t> </a:t>
            </a:r>
            <a:r>
              <a:rPr lang="en-US" sz="3200" b="1" cap="none" dirty="0"/>
              <a:t>with</a:t>
            </a:r>
            <a:br>
              <a:rPr lang="en-US" sz="3200" b="1" dirty="0"/>
            </a:br>
            <a:r>
              <a:rPr lang="en-US" sz="3200" b="1" dirty="0"/>
              <a:t>D</a:t>
            </a:r>
            <a:r>
              <a:rPr lang="en-US" sz="3200" b="1" cap="none" dirty="0"/>
              <a:t>evice</a:t>
            </a:r>
            <a:r>
              <a:rPr lang="en-US" sz="3200" b="1" dirty="0"/>
              <a:t>-L</a:t>
            </a:r>
            <a:r>
              <a:rPr lang="en-US" sz="3200" b="1" cap="none" dirty="0"/>
              <a:t>evel</a:t>
            </a:r>
            <a:r>
              <a:rPr lang="en-US" sz="3200" b="1" dirty="0"/>
              <a:t> I</a:t>
            </a:r>
            <a:r>
              <a:rPr lang="en-US" sz="3200" b="1" cap="none" dirty="0"/>
              <a:t>nsights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0DFF8-11BC-94F4-C21A-A0663F4A4A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</a:t>
            </a:r>
            <a:r>
              <a:rPr lang="en-US"/>
              <a:t>: vinay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820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7A5D-AF47-FCD0-DB7F-C5D0FB0D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5528"/>
          </a:xfrm>
        </p:spPr>
        <p:txBody>
          <a:bodyPr>
            <a:normAutofit/>
          </a:bodyPr>
          <a:lstStyle/>
          <a:p>
            <a:r>
              <a:rPr lang="en-US" dirty="0"/>
              <a:t>Project </a:t>
            </a:r>
            <a:r>
              <a:rPr lang="en-US" dirty="0" err="1"/>
              <a:t>overview&amp;objectives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8CA7DC-4A5E-132E-6702-6725FDA71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099486"/>
              </p:ext>
            </p:extLst>
          </p:nvPr>
        </p:nvGraphicFramePr>
        <p:xfrm>
          <a:off x="783771" y="2829008"/>
          <a:ext cx="1057002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926">
                  <a:extLst>
                    <a:ext uri="{9D8B030D-6E8A-4147-A177-3AD203B41FA5}">
                      <a16:colId xmlns:a16="http://schemas.microsoft.com/office/drawing/2014/main" val="1205325064"/>
                    </a:ext>
                  </a:extLst>
                </a:gridCol>
                <a:gridCol w="3534886">
                  <a:extLst>
                    <a:ext uri="{9D8B030D-6E8A-4147-A177-3AD203B41FA5}">
                      <a16:colId xmlns:a16="http://schemas.microsoft.com/office/drawing/2014/main" val="3223653425"/>
                    </a:ext>
                  </a:extLst>
                </a:gridCol>
                <a:gridCol w="3522215">
                  <a:extLst>
                    <a:ext uri="{9D8B030D-6E8A-4147-A177-3AD203B41FA5}">
                      <a16:colId xmlns:a16="http://schemas.microsoft.com/office/drawing/2014/main" val="3821778483"/>
                    </a:ext>
                  </a:extLst>
                </a:gridCol>
              </a:tblGrid>
              <a:tr h="24815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r>
                        <a:rPr lang="en-IN" sz="2800" b="1" dirty="0"/>
                        <a:t>Device-Level Analysis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Granular insights into individual appliance consumption patterns and performance metrics.</a:t>
                      </a:r>
                    </a:p>
                    <a:p>
                      <a:endParaRPr lang="en-IN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r>
                        <a:rPr lang="en-IN" sz="2800" b="1" dirty="0"/>
                        <a:t>Predictive Forecasting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  </a:t>
                      </a:r>
                      <a:r>
                        <a:rPr lang="en-US" sz="2400" dirty="0"/>
                        <a:t>Advanced ML algorithms for accurate energy consumption predictions across multiple time horizons.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r>
                        <a:rPr lang="en-IN" sz="2800" b="1" dirty="0"/>
                        <a:t>Interactive Dashboard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User-friendly interface with real-time visualization and actionable energy-saving recommendations.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18788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E4C638-1A98-0E2B-CDD7-238F311A6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252845"/>
              </p:ext>
            </p:extLst>
          </p:nvPr>
        </p:nvGraphicFramePr>
        <p:xfrm>
          <a:off x="838199" y="1186720"/>
          <a:ext cx="10515599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4234031115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sz="3200" b="1" dirty="0"/>
                        <a:t>primary goals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Develop an intelligent system to analyze household energy usage patterns and provide accurate consumption forecasts using machine learning techniques.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313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670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BDFE-36DC-09CB-82BB-B77CB371A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74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</a:t>
            </a:r>
            <a:r>
              <a:rPr lang="en-US" dirty="0" err="1"/>
              <a:t>statement&amp;challenges</a:t>
            </a:r>
            <a:br>
              <a:rPr lang="en-US" dirty="0"/>
            </a:br>
            <a:r>
              <a:rPr lang="en-US" dirty="0"/>
              <a:t>Key Issues in Traditional Energy Management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20260A-BDDD-BA0F-4895-4F29F228D0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265006"/>
              </p:ext>
            </p:extLst>
          </p:nvPr>
        </p:nvGraphicFramePr>
        <p:xfrm>
          <a:off x="1141413" y="2249488"/>
          <a:ext cx="9905997" cy="4667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1999">
                  <a:extLst>
                    <a:ext uri="{9D8B030D-6E8A-4147-A177-3AD203B41FA5}">
                      <a16:colId xmlns:a16="http://schemas.microsoft.com/office/drawing/2014/main" val="1666122841"/>
                    </a:ext>
                  </a:extLst>
                </a:gridCol>
                <a:gridCol w="3301999">
                  <a:extLst>
                    <a:ext uri="{9D8B030D-6E8A-4147-A177-3AD203B41FA5}">
                      <a16:colId xmlns:a16="http://schemas.microsoft.com/office/drawing/2014/main" val="1377178266"/>
                    </a:ext>
                  </a:extLst>
                </a:gridCol>
                <a:gridCol w="3301999">
                  <a:extLst>
                    <a:ext uri="{9D8B030D-6E8A-4147-A177-3AD203B41FA5}">
                      <a16:colId xmlns:a16="http://schemas.microsoft.com/office/drawing/2014/main" val="3770520429"/>
                    </a:ext>
                  </a:extLst>
                </a:gridCol>
              </a:tblGrid>
              <a:tr h="4667249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High Energy Usage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/>
                        <a:t>Uncontrolled consumption without optimization insights leads to </a:t>
                      </a:r>
                      <a:r>
                        <a:rPr lang="en-US" sz="2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excessive electricity bills</a:t>
                      </a:r>
                      <a:r>
                        <a:rPr lang="en-US" sz="2800" b="0" dirty="0"/>
                        <a:t>.</a:t>
                      </a:r>
                    </a:p>
                    <a:p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Lack of Device Breakdown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/>
                        <a:t>No visibility into </a:t>
                      </a:r>
                      <a:r>
                        <a:rPr lang="en-US" sz="2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individual appliance performance</a:t>
                      </a:r>
                      <a:r>
                        <a:rPr lang="en-US" sz="2800" b="0" dirty="0"/>
                        <a:t> and contribution to total consumption.</a:t>
                      </a:r>
                    </a:p>
                    <a:p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No Forecasting Capability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Absence of </a:t>
                      </a:r>
                      <a:r>
                        <a:rPr lang="en-US" sz="2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predictive tools</a:t>
                      </a:r>
                      <a:r>
                        <a:rPr lang="en-US" sz="2400" b="0" dirty="0"/>
                        <a:t> prevents proactive energy management and planning.</a:t>
                      </a:r>
                    </a:p>
                    <a:p>
                      <a:endParaRPr lang="en-IN" dirty="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2674949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57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8921-44A3-0737-A4CF-639C3E73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4742"/>
          </a:xfrm>
        </p:spPr>
        <p:txBody>
          <a:bodyPr>
            <a:normAutofit/>
          </a:bodyPr>
          <a:lstStyle/>
          <a:p>
            <a:r>
              <a:rPr lang="en-US" dirty="0"/>
              <a:t>Dataset </a:t>
            </a:r>
            <a:r>
              <a:rPr lang="en-US" dirty="0" err="1"/>
              <a:t>Description&amp;Characteristics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49F4C6A-88EC-E118-078C-5227292806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397762"/>
              </p:ext>
            </p:extLst>
          </p:nvPr>
        </p:nvGraphicFramePr>
        <p:xfrm>
          <a:off x="838200" y="1406769"/>
          <a:ext cx="5351585" cy="3697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02E1759-37B9-8757-350E-EC26C56F9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298062"/>
              </p:ext>
            </p:extLst>
          </p:nvPr>
        </p:nvGraphicFramePr>
        <p:xfrm>
          <a:off x="6290266" y="1049865"/>
          <a:ext cx="5351585" cy="3216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700">
                  <a:extLst>
                    <a:ext uri="{9D8B030D-6E8A-4147-A177-3AD203B41FA5}">
                      <a16:colId xmlns:a16="http://schemas.microsoft.com/office/drawing/2014/main" val="3880452310"/>
                    </a:ext>
                  </a:extLst>
                </a:gridCol>
                <a:gridCol w="2829885">
                  <a:extLst>
                    <a:ext uri="{9D8B030D-6E8A-4147-A177-3AD203B41FA5}">
                      <a16:colId xmlns:a16="http://schemas.microsoft.com/office/drawing/2014/main" val="1856103518"/>
                    </a:ext>
                  </a:extLst>
                </a:gridCol>
              </a:tblGrid>
              <a:tr h="321686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/>
                        <a:t>CSV Dataset Format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/>
                        <a:t>Structured data with device names, timestamps, and power consumption readings.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/>
                        <a:t>Temporal Coverage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/>
                        <a:t>Six months of continuous monitoring with hourly and daily consumption patterns.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60293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EDAA794-1BC4-B3F7-4D35-96DD91507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561763"/>
              </p:ext>
            </p:extLst>
          </p:nvPr>
        </p:nvGraphicFramePr>
        <p:xfrm>
          <a:off x="6290268" y="4266733"/>
          <a:ext cx="5351584" cy="2226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1584">
                  <a:extLst>
                    <a:ext uri="{9D8B030D-6E8A-4147-A177-3AD203B41FA5}">
                      <a16:colId xmlns:a16="http://schemas.microsoft.com/office/drawing/2014/main" val="3900120903"/>
                    </a:ext>
                  </a:extLst>
                </a:gridCol>
              </a:tblGrid>
              <a:tr h="2226141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Smart Home Context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/>
                        <a:t>Real-world residential energy usage across multiple appliances and devices.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46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4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39AA-8D45-4ECE-B6E8-75C23924A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13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F71C18F-5106-2CB3-5D00-2130B4D37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8" y="-10357"/>
            <a:ext cx="12176911" cy="6868357"/>
          </a:xfrm>
        </p:spPr>
      </p:pic>
    </p:spTree>
    <p:extLst>
      <p:ext uri="{BB962C8B-B14F-4D97-AF65-F5344CB8AC3E}">
        <p14:creationId xmlns:p14="http://schemas.microsoft.com/office/powerpoint/2010/main" val="415897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C96C-8701-9D8F-9925-9EFE437C3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872"/>
          </a:xfrm>
        </p:spPr>
        <p:txBody>
          <a:bodyPr>
            <a:normAutofit/>
          </a:bodyPr>
          <a:lstStyle/>
          <a:p>
            <a:r>
              <a:rPr lang="en-US" dirty="0"/>
              <a:t>Linear Regression Model Performance</a:t>
            </a:r>
            <a:endParaRPr lang="en-IN" dirty="0"/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2A73BD5E-4C25-64A4-0B6F-92744773D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562558"/>
              </p:ext>
            </p:extLst>
          </p:nvPr>
        </p:nvGraphicFramePr>
        <p:xfrm>
          <a:off x="648182" y="1006998"/>
          <a:ext cx="10705618" cy="528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914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C341-02C6-4DAD-6CFF-CD9DBFC41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896AF1-D672-07D8-26CB-FE8C7EF5F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22180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F0AE-0572-F65F-EB42-E49159C2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090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000" dirty="0"/>
              <a:t>Dashboard &amp; UI </a:t>
            </a:r>
            <a:r>
              <a:rPr lang="en-US" sz="4000" dirty="0" err="1"/>
              <a:t>Feaures</a:t>
            </a:r>
            <a:br>
              <a:rPr lang="en-US" dirty="0"/>
            </a:br>
            <a:r>
              <a:rPr lang="en-US" sz="2700" dirty="0"/>
              <a:t>Interactive Dashboard with Device Usage Analytics and Personalized Insights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3390DA-E8D1-185E-CE8F-C9D481B49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6902190"/>
              </p:ext>
            </p:extLst>
          </p:nvPr>
        </p:nvGraphicFramePr>
        <p:xfrm>
          <a:off x="838200" y="1501775"/>
          <a:ext cx="4949142" cy="4447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05FE8C-1BFA-875D-30B3-926351232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189760"/>
              </p:ext>
            </p:extLst>
          </p:nvPr>
        </p:nvGraphicFramePr>
        <p:xfrm>
          <a:off x="5995684" y="1501775"/>
          <a:ext cx="5694746" cy="454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4746">
                  <a:extLst>
                    <a:ext uri="{9D8B030D-6E8A-4147-A177-3AD203B41FA5}">
                      <a16:colId xmlns:a16="http://schemas.microsoft.com/office/drawing/2014/main" val="2491516278"/>
                    </a:ext>
                  </a:extLst>
                </a:gridCol>
              </a:tblGrid>
              <a:tr h="4540210">
                <a:tc>
                  <a:txBody>
                    <a:bodyPr/>
                    <a:lstStyle/>
                    <a:p>
                      <a:r>
                        <a:rPr lang="en-IN" sz="3600" b="1" dirty="0"/>
                        <a:t>Interactive Features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dirty="0"/>
                        <a:t>Device selection dropdown for granular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dirty="0"/>
                        <a:t>Real-time chart updates based on user filters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dirty="0"/>
                        <a:t>Personalized insights generation for each device type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dirty="0"/>
                        <a:t>Responsive UI adapting to different screen sizes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009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51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BD65-930B-FDA3-71B1-B24F3968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493"/>
          </a:xfrm>
        </p:spPr>
        <p:txBody>
          <a:bodyPr/>
          <a:lstStyle/>
          <a:p>
            <a:r>
              <a:rPr lang="en-US" dirty="0"/>
              <a:t>Results &amp; Visualization Insights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E24C638-F621-8D83-6B9E-BE2A19B0E3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43215914"/>
              </p:ext>
            </p:extLst>
          </p:nvPr>
        </p:nvGraphicFramePr>
        <p:xfrm>
          <a:off x="1141413" y="2249488"/>
          <a:ext cx="4878387" cy="354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59B41F3-94C4-6799-D84B-900A14BE67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45432127"/>
              </p:ext>
            </p:extLst>
          </p:nvPr>
        </p:nvGraphicFramePr>
        <p:xfrm>
          <a:off x="6172200" y="1180618"/>
          <a:ext cx="5181600" cy="295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20344279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500440836"/>
                    </a:ext>
                  </a:extLst>
                </a:gridCol>
              </a:tblGrid>
              <a:tr h="295154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Device Breakdown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/>
                        <a:t>AC systems account for 42% of total consumption, with clear weekly patterns showing peak usage on weekends.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Usage Patterns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/>
                        <a:t>Aggregated data reveals 18% higher energy use during evening hours (6-10pm) across all device categories.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03089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B963E9-2556-C895-DDD4-D92980259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95733"/>
              </p:ext>
            </p:extLst>
          </p:nvPr>
        </p:nvGraphicFramePr>
        <p:xfrm>
          <a:off x="6172200" y="4132163"/>
          <a:ext cx="5181600" cy="20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910461631"/>
                    </a:ext>
                  </a:extLst>
                </a:gridCol>
              </a:tblGrid>
              <a:tr h="204480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Interactive Features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dirty="0"/>
                        <a:t>Dynamic filters allow drilling down by time period, device type, and energy threshold levels for deeper analysis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28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57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0C31C-89BB-4DF5-EEED-D4F222D3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B15A39-04B6-31D9-9AF3-6FB029A71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838033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E5CC-BC50-CDC3-EBCB-A9C15A99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0217"/>
          </a:xfrm>
        </p:spPr>
        <p:txBody>
          <a:bodyPr/>
          <a:lstStyle/>
          <a:p>
            <a:r>
              <a:rPr lang="en-US" dirty="0"/>
              <a:t>Model Performance Comparison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B35E9-97F1-029B-BD09-A45698C62A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Evaluation Metrics &amp; Results</a:t>
            </a:r>
          </a:p>
          <a:p>
            <a:r>
              <a:rPr lang="en-IN" dirty="0"/>
              <a:t>Comprehensive model evaluation using RMSE, MAE, and R² scores demonstrates superior performance of LSTM networks over traditional baseline methods.</a:t>
            </a:r>
          </a:p>
          <a:p>
            <a:r>
              <a:rPr lang="en-IN" dirty="0"/>
              <a:t>LSTM models achieve up to 90% prediction accuracy, significantly outperforming Linear Regression baseline models.</a:t>
            </a:r>
          </a:p>
          <a:p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6E6665B-1A7B-A225-F8BD-E954208D4FA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5504363"/>
              </p:ext>
            </p:extLst>
          </p:nvPr>
        </p:nvGraphicFramePr>
        <p:xfrm>
          <a:off x="6172200" y="2249488"/>
          <a:ext cx="4875213" cy="354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5680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5066-999F-7A62-FE0A-6C97FC64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79BC1-D443-BD07-83BD-F6BC3787C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85991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4186-4044-AA88-DA77-C9EC6D37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Consumption Analytics Dashboard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1EB765A-C22C-82E2-C44A-9A543136C86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50440243"/>
              </p:ext>
            </p:extLst>
          </p:nvPr>
        </p:nvGraphicFramePr>
        <p:xfrm>
          <a:off x="1141413" y="2249488"/>
          <a:ext cx="4878387" cy="354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CCA37-CB2C-CC6D-17BC-EC8E6061F5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Smart Insights Engine</a:t>
            </a:r>
          </a:p>
          <a:p>
            <a:pPr marL="0" indent="0">
              <a:buNone/>
            </a:pPr>
            <a:r>
              <a:rPr lang="en-US" dirty="0"/>
              <a:t>Real-time monitoring provides hourly, daily, weekly, and monthly consumption trends with intelligent energy-saving recommendations.</a:t>
            </a:r>
          </a:p>
          <a:p>
            <a:r>
              <a:rPr lang="en-US" dirty="0"/>
              <a:t>Peak usage identification and optimization suggestions</a:t>
            </a:r>
          </a:p>
          <a:p>
            <a:r>
              <a:rPr lang="en-US" dirty="0"/>
              <a:t>Device-specific efficiency recommendations</a:t>
            </a:r>
          </a:p>
          <a:p>
            <a:r>
              <a:rPr lang="en-US" dirty="0"/>
              <a:t>Cost-saving opportunities and wastage alerts</a:t>
            </a:r>
          </a:p>
          <a:p>
            <a:r>
              <a:rPr lang="en-US" dirty="0"/>
              <a:t>Predictive maintenance scheduling for appliances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97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F929-6408-2E9C-825F-94ABD626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FF323BE-FB7B-9A82-F85E-42E3C8777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13409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826A-E7B6-5F66-4D38-6406B7988E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F31BF-8B6E-6C04-4703-5DDB9A6D5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926353" y="6368642"/>
            <a:ext cx="45719" cy="52253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526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96</TotalTime>
  <Words>413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Smart Energy Consumption Analysis &amp; Prediction using Machine Learning with Device-Level Insights</vt:lpstr>
      <vt:lpstr>Project overview&amp;objectives</vt:lpstr>
      <vt:lpstr>Problem statement&amp;challenges Key Issues in Traditional Energy Management</vt:lpstr>
      <vt:lpstr>Dataset Description&amp;Characteristics</vt:lpstr>
      <vt:lpstr>PowerPoint Presentation</vt:lpstr>
      <vt:lpstr>Linear Regression Model Performance</vt:lpstr>
      <vt:lpstr>PowerPoint Presentation</vt:lpstr>
      <vt:lpstr> Dashboard &amp; UI Feaures Interactive Dashboard with Device Usage Analytics and Personalized Insights </vt:lpstr>
      <vt:lpstr>Results &amp; Visualization Insights</vt:lpstr>
      <vt:lpstr>PowerPoint Presentation</vt:lpstr>
      <vt:lpstr>Model Performance Comparison</vt:lpstr>
      <vt:lpstr>PowerPoint Presentation</vt:lpstr>
      <vt:lpstr>Energy Consumption Analytics Dashboard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gangu vinay</dc:creator>
  <cp:lastModifiedBy>gangu vinay</cp:lastModifiedBy>
  <cp:revision>3</cp:revision>
  <dcterms:created xsi:type="dcterms:W3CDTF">2026-01-18T15:49:56Z</dcterms:created>
  <dcterms:modified xsi:type="dcterms:W3CDTF">2026-01-20T11:45:51Z</dcterms:modified>
</cp:coreProperties>
</file>